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2026 World Cup Analytics Data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Collection, organization, and aggregation — a developer walkthrough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github.com/mariaob1201/2026-world-cup-analytics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Pipeline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SOURCES                EXTRACTION            FEATURES            STRUCTURE
-------                ----------            --------            ---------
martj42 results  --\   wc2026_matches()      per-player:        48 teams
FIFA-22 attrs    ---+-&gt;build_real_matches()-&gt;longevity,        12 groups
Wikipedia squads --/   fetch_squads()         skill_index,      (teams.py)
worldcup2026 repo      + FIFA surname join    social, age×role       |
                            |                       |                 v
                            v                       v            by_group() -&gt;
                   wc2026_players.csv     team_features_live.csv  group -&gt;
                                          -&gt; Bayesian prior       knockout sim</a:t>
            </a:r>
          </a:p>
          <a:p>
            <a:pPr lvl="0" indent="0" marL="0">
              <a:buNone/>
            </a:pPr>
            <a:r>
              <a:rPr/>
              <a:t>Keyless · cached to </a:t>
            </a:r>
            <a:r>
              <a:rPr>
                <a:latin typeface="Courier"/>
              </a:rPr>
              <a:t>data/raw/</a:t>
            </a:r>
            <a:r>
              <a:rPr/>
              <a:t> · re-run daily by CI.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Keyless &amp; public</a:t>
            </a:r>
            <a:r>
              <a:rPr/>
              <a:t> — every source is a raw GitHub URL or public API; no credentials to reproduce.</a:t>
            </a:r>
          </a:p>
          <a:p>
            <a:pPr lvl="0"/>
            <a:r>
              <a:rPr b="1"/>
              <a:t>Cache-first</a:t>
            </a:r>
            <a:r>
              <a:rPr/>
              <a:t> — downloads land in </a:t>
            </a:r>
            <a:r>
              <a:rPr>
                <a:latin typeface="Courier"/>
              </a:rPr>
              <a:t>data/raw/</a:t>
            </a:r>
            <a:r>
              <a:rPr/>
              <a:t>; the live results feed refreshes on a TTL, statics cached forever.</a:t>
            </a:r>
          </a:p>
          <a:p>
            <a:pPr lvl="0"/>
            <a:r>
              <a:rPr b="1"/>
              <a:t>Canonicalized</a:t>
            </a:r>
            <a:r>
              <a:rPr/>
              <a:t> — one naming convention for 48 teams; every source is aliased into it on ingest.</a:t>
            </a:r>
          </a:p>
          <a:p>
            <a:pPr lvl="0"/>
            <a:r>
              <a:rPr b="1"/>
              <a:t>Schema-stable</a:t>
            </a:r>
            <a:r>
              <a:rPr/>
              <a:t> — each stage emits a fixed, documented schema, so a source can be swapped without touching downstream code.</a:t>
            </a:r>
          </a:p>
          <a:p>
            <a:pPr lvl="0"/>
            <a:r>
              <a:rPr b="1"/>
              <a:t>Reproducible</a:t>
            </a:r>
            <a:r>
              <a:rPr/>
              <a:t> — </a:t>
            </a:r>
            <a:r>
              <a:rPr>
                <a:latin typeface="Courier"/>
              </a:rPr>
              <a:t>make daily</a:t>
            </a:r>
            <a:r>
              <a:rPr/>
              <a:t> runs the full chain; the CI bot commits the diff.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Collection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Transport &amp; formats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Loader (</a:t>
                      </a:r>
                      <a:r>
                        <a:rPr>
                          <a:latin typeface="Courier"/>
                        </a:rPr>
                        <a:t>data/sources.py</a:t>
                      </a:r>
                      <a:r>
                        <a:rPr/>
                        <a:t>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martj42 results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HTTPS 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download_intl_results()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FIFA-22 attributes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HTTPS 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download_fifa()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Wikipedia squads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MediaWiki 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wikitext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fetch_squads()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worldcup2026 repo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HTTPS 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fetch_team_metadata()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fetched with the standard library (</a:t>
            </a:r>
            <a:r>
              <a:rPr>
                <a:latin typeface="Courier"/>
              </a:rPr>
              <a:t>urllib.request</a:t>
            </a:r>
            <a:r>
              <a:rPr/>
              <a:t>) — no scraping frameworks. Each loader is idempotent and offline-safe once cached.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(1) Live match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Source:</a:t>
            </a:r>
            <a:r>
              <a:rPr/>
              <a:t> </a:t>
            </a:r>
            <a:r>
              <a:rPr>
                <a:latin typeface="Courier"/>
              </a:rPr>
              <a:t>martj42/international_results</a:t>
            </a:r>
            <a:r>
              <a:rPr/>
              <a:t> — every men’s international since 1872, updated within days of each match.</a:t>
            </a:r>
          </a:p>
          <a:p>
            <a:pPr lvl="0"/>
            <a:r>
              <a:rPr b="1"/>
              <a:t>Method:</a:t>
            </a:r>
            <a:r>
              <a:rPr/>
              <a:t> </a:t>
            </a:r>
            <a:r>
              <a:rPr>
                <a:latin typeface="Courier"/>
              </a:rPr>
              <a:t>urllib.urlretrieve(URL, data/raw/intl_results.csv)</a:t>
            </a:r>
            <a:r>
              <a:rPr/>
              <a:t>.</a:t>
            </a:r>
          </a:p>
          <a:p>
            <a:pPr lvl="0"/>
            <a:r>
              <a:rPr b="1"/>
              <a:t>Freshness (TTL):</a:t>
            </a:r>
            <a:r>
              <a:rPr/>
              <a:t> re-download when the cache mtime is older than </a:t>
            </a:r>
            <a:r>
              <a:rPr>
                <a:latin typeface="Courier"/>
              </a:rPr>
              <a:t>max_age_hours = 6</a:t>
            </a:r>
            <a:r>
              <a:rPr/>
              <a:t> — so during the tournament the feed never lags reality by more than a few hours.</a:t>
            </a:r>
          </a:p>
          <a:p>
            <a:pPr lvl="0"/>
            <a:r>
              <a:rPr b="1"/>
              <a:t>Resilience:</a:t>
            </a:r>
            <a:r>
              <a:rPr/>
              <a:t> on a network error, fall back to the cached copy instead of raising.</a:t>
            </a:r>
          </a:p>
          <a:p>
            <a:pPr lvl="0" indent="0">
              <a:buNone/>
            </a:pPr>
            <a:r>
              <a:rPr>
                <a:latin typeface="Courier"/>
              </a:rPr>
              <a:t>if cache exists and age &lt;= max_age_hours: return read(cache)
try:    urlretrieve(URL, cache)
except: if cache exists: return read(cache)   # offline fallback
        else: raise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(2) Player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Source:</a:t>
            </a:r>
            <a:r>
              <a:rPr/>
              <a:t> FIFA-22 complete player dataset (sofifa dump).</a:t>
            </a:r>
          </a:p>
          <a:p>
            <a:pPr lvl="0"/>
            <a:r>
              <a:rPr b="1"/>
              <a:t>Method:</a:t>
            </a:r>
            <a:r>
              <a:rPr/>
              <a:t> one-time HTTPS GET of the CSV to </a:t>
            </a:r>
            <a:r>
              <a:rPr>
                <a:latin typeface="Courier"/>
              </a:rPr>
              <a:t>data/raw/fifa_players_22.csv</a:t>
            </a:r>
            <a:r>
              <a:rPr/>
              <a:t>; </a:t>
            </a:r>
            <a:r>
              <a:rPr b="1"/>
              <a:t>static cache</a:t>
            </a:r>
            <a:r>
              <a:rPr/>
              <a:t> (attributes don’t change), refreshed only with </a:t>
            </a:r>
            <a:r>
              <a:rPr>
                <a:latin typeface="Courier"/>
              </a:rPr>
              <a:t>force=True</a:t>
            </a:r>
            <a:r>
              <a:rPr/>
              <a:t>.</a:t>
            </a:r>
          </a:p>
          <a:p>
            <a:pPr lvl="0"/>
            <a:r>
              <a:rPr b="1"/>
              <a:t>Columns used:</a:t>
            </a:r>
            <a:r>
              <a:rPr/>
              <a:t> </a:t>
            </a:r>
            <a:r>
              <a:rPr>
                <a:latin typeface="Courier"/>
              </a:rPr>
              <a:t>short_name, overall</a:t>
            </a:r>
            <a:r>
              <a:rPr/>
              <a:t> + the six skills </a:t>
            </a:r>
            <a:r>
              <a:rPr>
                <a:latin typeface="Courier"/>
              </a:rPr>
              <a:t>pace, shooting, passing, dribbling, defending, physic</a:t>
            </a:r>
            <a:r>
              <a:rPr/>
              <a:t>.</a:t>
            </a:r>
          </a:p>
          <a:p>
            <a:pPr lvl="0"/>
            <a:r>
              <a:rPr b="1"/>
              <a:t>Role:</a:t>
            </a:r>
            <a:r>
              <a:rPr/>
              <a:t> the quantitative skill layer the real roster is joined against (Stage 2).</a:t>
            </a:r>
          </a:p>
          <a:p>
            <a:pPr lvl="0" indent="0" marL="0">
              <a:buNone/>
            </a:pPr>
            <a:r>
              <a:rPr i="1"/>
              <a:t>Vintage caveat:</a:t>
            </a:r>
            <a:r>
              <a:rPr/>
              <a:t> FIFA-22 is a fixed snapshot; swap </a:t>
            </a:r>
            <a:r>
              <a:rPr>
                <a:latin typeface="Courier"/>
              </a:rPr>
              <a:t>FIFA_CSV_URL</a:t>
            </a:r>
            <a:r>
              <a:rPr/>
              <a:t> for an FC24/25 dump or an exact per-player API — the schema contract stays the same.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(3) Real 2026 squads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Source:</a:t>
            </a:r>
            <a:r>
              <a:rPr/>
              <a:t> Wikipedia “2026 FIFA World Cup squads” (per nation).</a:t>
            </a:r>
          </a:p>
          <a:p>
            <a:pPr lvl="0"/>
            <a:r>
              <a:rPr b="1"/>
              <a:t>Method:</a:t>
            </a:r>
            <a:r>
              <a:rPr/>
              <a:t> MediaWiki API request for page </a:t>
            </a:r>
            <a:r>
              <a:rPr i="1"/>
              <a:t>wikitext</a:t>
            </a:r>
            <a:r>
              <a:rPr/>
              <a:t> (not rendered HTML), with an explicit </a:t>
            </a:r>
            <a:r>
              <a:rPr>
                <a:latin typeface="Courier"/>
              </a:rPr>
              <a:t>User-Agent</a:t>
            </a:r>
            <a:r>
              <a:rPr/>
              <a:t> header (Wikipedia rejects blank UAs with HTTP 403).</a:t>
            </a:r>
          </a:p>
          <a:p>
            <a:pPr lvl="0"/>
            <a:r>
              <a:rPr b="1"/>
              <a:t>Parse:</a:t>
            </a:r>
            <a:r>
              <a:rPr/>
              <a:t> </a:t>
            </a:r>
            <a:r>
              <a:rPr>
                <a:latin typeface="Courier"/>
              </a:rPr>
              <a:t>parse_squads()</a:t>
            </a:r>
            <a:r>
              <a:rPr/>
              <a:t> reads the </a:t>
            </a:r>
            <a:r>
              <a:rPr>
                <a:latin typeface="Courier"/>
              </a:rPr>
              <a:t>{{National football squad}}</a:t>
            </a:r>
            <a:r>
              <a:rPr/>
              <a:t> template rows into </a:t>
            </a:r>
            <a:r>
              <a:rPr>
                <a:latin typeface="Courier"/>
              </a:rPr>
              <a:t>name, position, age, caps</a:t>
            </a:r>
            <a:r>
              <a:rPr/>
              <a:t> per player; team names normalized via </a:t>
            </a:r>
            <a:r>
              <a:rPr>
                <a:latin typeface="Courier"/>
              </a:rPr>
              <a:t>WIKI_TEAM_ALIASES</a:t>
            </a:r>
            <a:r>
              <a:rPr/>
              <a:t>.</a:t>
            </a:r>
          </a:p>
          <a:p>
            <a:pPr lvl="0"/>
            <a:r>
              <a:rPr b="1"/>
              <a:t>Why:</a:t>
            </a:r>
            <a:r>
              <a:rPr/>
              <a:t> this is the </a:t>
            </a:r>
            <a:r>
              <a:rPr i="1"/>
              <a:t>ground-truth roster</a:t>
            </a:r>
            <a:r>
              <a:rPr/>
              <a:t> — it keeps retired / uncalled players out of every table.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(4) Official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Source:</a:t>
            </a:r>
            <a:r>
              <a:rPr/>
              <a:t> </a:t>
            </a:r>
            <a:r>
              <a:rPr>
                <a:latin typeface="Courier"/>
              </a:rPr>
              <a:t>rezarahiminia/worldcup2026</a:t>
            </a:r>
            <a:r>
              <a:rPr/>
              <a:t> (open JSON).</a:t>
            </a:r>
          </a:p>
          <a:p>
            <a:pPr lvl="0"/>
            <a:r>
              <a:rPr b="1"/>
              <a:t>Method:</a:t>
            </a:r>
            <a:r>
              <a:rPr/>
              <a:t> HTTPS GET of </a:t>
            </a:r>
            <a:r>
              <a:rPr>
                <a:latin typeface="Courier"/>
              </a:rPr>
              <a:t>football.teams.json</a:t>
            </a:r>
            <a:r>
              <a:rPr/>
              <a:t>, parsed to a DataFrame of </a:t>
            </a:r>
            <a:r>
              <a:rPr>
                <a:latin typeface="Courier"/>
              </a:rPr>
              <a:t>name, fifa_code, group, flag</a:t>
            </a:r>
            <a:r>
              <a:rPr/>
              <a:t>.</a:t>
            </a:r>
          </a:p>
          <a:p>
            <a:pPr lvl="0"/>
            <a:r>
              <a:rPr b="1"/>
              <a:t>Role:</a:t>
            </a:r>
            <a:r>
              <a:rPr/>
              <a:t> authoritative FIFA codes, group letters, and flag emoji for presentation — decoupled from our hard-coded draw so the two can be cross-checked.</a:t>
            </a:r>
          </a:p>
          <a:p>
            <a:pPr lvl="0"/>
            <a:r>
              <a:rPr b="1"/>
              <a:t>Degrades gracefully:</a:t>
            </a:r>
            <a:r>
              <a:rPr/>
              <a:t> if unreachable, the build falls back to local metadata and logs a warning.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Organization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Canonicalization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Different sources spell teams differently; all are mapped to one canon on ingest.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Alias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INTL_NAME_ALIASES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results feed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Czechia → Czech Republic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FIFA_NATION_ALIASES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FIFA nationality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South Korea → Korea Republic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WIKI_TEAM_ALIASES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Wikipedia pages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Ivory Coast → Côte d’Ivoire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Mapping is applied </a:t>
            </a:r>
            <a:r>
              <a:rPr i="1"/>
              <a:t>to</a:t>
            </a:r>
            <a:r>
              <a:rPr/>
              <a:t> the source name on read and </a:t>
            </a:r>
            <a:r>
              <a:rPr i="1"/>
              <a:t>back</a:t>
            </a:r>
            <a:r>
              <a:rPr/>
              <a:t> to canon on emit, so joins across sources are exact.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Derived match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build_real_matches(start, end)</a:t>
            </a:r>
            <a:r>
              <a:rPr/>
              <a:t> — the training frame. Drops unscored rows, filters to [start, end] (</a:t>
            </a:r>
            <a:r>
              <a:rPr>
                <a:latin typeface="Courier"/>
              </a:rPr>
              <a:t>end</a:t>
            </a:r>
            <a:r>
              <a:rPr/>
              <a:t> defaults to </a:t>
            </a:r>
            <a:r>
              <a:rPr i="1"/>
              <a:t>today</a:t>
            </a:r>
            <a:r>
              <a:rPr/>
              <a:t>) and to the 48 teams. Schema: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match_id, date, home_team, away_team, home_goals, away_goals, tournament, neutral</a:t>
            </a:r>
          </a:p>
          <a:p>
            <a:pPr lvl="0" indent="0" marL="0">
              <a:buNone/>
            </a:pPr>
            <a:r>
              <a:rPr b="1">
                <a:latin typeface="Courier"/>
              </a:rPr>
              <a:t>wc2026_matches()</a:t>
            </a:r>
            <a:r>
              <a:rPr/>
              <a:t> — all 2026 fixtures; adds canonical </a:t>
            </a:r>
            <a:r>
              <a:rPr>
                <a:latin typeface="Courier"/>
              </a:rPr>
              <a:t>home</a:t>
            </a:r>
            <a:r>
              <a:rPr/>
              <a:t>/</a:t>
            </a:r>
            <a:r>
              <a:rPr>
                <a:latin typeface="Courier"/>
              </a:rPr>
              <a:t>away</a:t>
            </a:r>
            <a:r>
              <a:rPr/>
              <a:t>. </a:t>
            </a:r>
            <a:r>
              <a:rPr b="1"/>
              <a:t>Rows with null score = not yet played.</a:t>
            </a:r>
          </a:p>
          <a:p>
            <a:pPr lvl="0" indent="0" marL="0">
              <a:buNone/>
            </a:pPr>
            <a:r>
              <a:rPr/>
              <a:t>That scored-vs-null split is exactly what separates </a:t>
            </a:r>
            <a:r>
              <a:rPr i="1"/>
              <a:t>backtest</a:t>
            </a:r>
            <a:r>
              <a:rPr/>
              <a:t> (played) from </a:t>
            </a:r>
            <a:r>
              <a:rPr i="1"/>
              <a:t>forecast</a:t>
            </a:r>
            <a:r>
              <a:rPr/>
              <a:t> (upcoming) downstream.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On-disk layout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data/raw/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cached source downloads (git-ignored)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data/interim/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scratch / intermediate frames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data/processed/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published CSVs (committed)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artifacts/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posteriors (.nc, ignored) + charts (.png, committed)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docs/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generated reports &amp; this deck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published tables live in </a:t>
            </a:r>
            <a:r>
              <a:rPr>
                <a:latin typeface="Courier"/>
              </a:rPr>
              <a:t>data/processed/</a:t>
            </a:r>
            <a:r>
              <a:rPr/>
              <a:t>: </a:t>
            </a:r>
            <a:r>
              <a:rPr>
                <a:latin typeface="Courier"/>
              </a:rPr>
              <a:t>wc2026_players.csv</a:t>
            </a:r>
            <a:r>
              <a:rPr/>
              <a:t> (per player) and </a:t>
            </a:r>
            <a:r>
              <a:rPr>
                <a:latin typeface="Courier"/>
              </a:rPr>
              <a:t>wc2026_team_assessment.csv</a:t>
            </a:r>
            <a:r>
              <a:rPr/>
              <a:t> (per team).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Extraction &amp; Features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Player extraction — the surname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roster × FIFA attributes (</a:t>
            </a:r>
            <a:r>
              <a:rPr>
                <a:latin typeface="Courier"/>
              </a:rPr>
              <a:t>scripts/27_build_player_dataset.py</a:t>
            </a:r>
            <a:r>
              <a:rPr/>
              <a:t>):</a:t>
            </a:r>
          </a:p>
          <a:p>
            <a:pPr lvl="0" indent="0">
              <a:buNone/>
            </a:pPr>
            <a:r>
              <a:rPr>
                <a:latin typeface="Courier"/>
              </a:rPr>
              <a:t>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name: name.split()[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].lower()          </a:t>
            </a:r>
            <a:r>
              <a:rPr i="1">
                <a:solidFill>
                  <a:srgbClr val="60A0B0"/>
                </a:solidFill>
                <a:latin typeface="Courier"/>
              </a:rPr>
              <a:t># surname</a:t>
            </a:r>
            <a:br/>
            <a:r>
              <a:rPr>
                <a:latin typeface="Courier"/>
              </a:rPr>
              <a:t>fifa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fifa.sort_values(</a:t>
            </a:r>
            <a:r>
              <a:rPr>
                <a:solidFill>
                  <a:srgbClr val="4070A0"/>
                </a:solidFill>
                <a:latin typeface="Courier"/>
              </a:rPr>
              <a:t>"overall"</a:t>
            </a:r>
            <a:r>
              <a:rPr>
                <a:latin typeface="Courier"/>
              </a:rPr>
              <a:t>, desc).drop_duplicates(key)  </a:t>
            </a:r>
            <a:r>
              <a:rPr i="1">
                <a:solidFill>
                  <a:srgbClr val="60A0B0"/>
                </a:solidFill>
                <a:latin typeface="Courier"/>
              </a:rPr>
              <a:t># best namesake</a:t>
            </a:r>
            <a:br/>
            <a:r>
              <a:rPr>
                <a:latin typeface="Courier"/>
              </a:rPr>
              <a:t>players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live.merge(fifa, on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key, how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"left"</a:t>
            </a:r>
            <a:r>
              <a:rPr>
                <a:latin typeface="Courier"/>
              </a:rPr>
              <a:t>)        </a:t>
            </a:r>
            <a:r>
              <a:rPr i="1">
                <a:solidFill>
                  <a:srgbClr val="60A0B0"/>
                </a:solidFill>
                <a:latin typeface="Courier"/>
              </a:rPr>
              <a:t># keep every real player</a:t>
            </a:r>
            <a:br/>
            <a:r>
              <a:rPr>
                <a:latin typeface="Courier"/>
              </a:rPr>
              <a:t>rating_source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"fifa-match"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overall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null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"team-median"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back-fill unmatched skills: team median, then global median</a:t>
            </a:r>
          </a:p>
          <a:p>
            <a:pPr lvl="0"/>
            <a:r>
              <a:rPr b="1"/>
              <a:t>Left join</a:t>
            </a:r>
            <a:r>
              <a:rPr/>
              <a:t> ⇒ no real player is ever dropped.</a:t>
            </a:r>
          </a:p>
          <a:p>
            <a:pPr lvl="0"/>
            <a:r>
              <a:rPr b="1"/>
              <a:t>Provenance flag</a:t>
            </a:r>
            <a:r>
              <a:rPr/>
              <a:t> </a:t>
            </a:r>
            <a:r>
              <a:rPr>
                <a:latin typeface="Courier"/>
              </a:rPr>
              <a:t>rating_source</a:t>
            </a:r>
            <a:r>
              <a:rPr/>
              <a:t> marks matched vs. filled rows (~70% exact coverage).</a:t>
            </a:r>
          </a:p>
          <a:p>
            <a:pPr lvl="0"/>
            <a:r>
              <a:rPr/>
              <a:t>GKs (no pace/defending in FIFA) get the same median fill.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Per-player features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 each player row (</a:t>
            </a:r>
            <a:r>
              <a:rPr>
                <a:latin typeface="Courier"/>
              </a:rPr>
              <a:t>features/player_features.py</a:t>
            </a:r>
            <a:r>
              <a:rPr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Definition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longevity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½·(z(career_years) + z(caps))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skill_index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Σ wₐ·ratingₐ (shoot .25, pass/drib .20, pace .15, def/phys .10)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social_score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z( log₁₀(followers) · (1 + engagement) 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z(·) = population standardization (mean 0, sd 1). Position is also one-hot encoded for per-line analysis.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 × role weighting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Youth boosts attacking pace; seniority boosts defensive solidity (</a:t>
            </a:r>
            <a:r>
              <a:rPr>
                <a:latin typeface="Courier"/>
              </a:rPr>
              <a:t>data/live_squads.py</a:t>
            </a:r>
            <a:r>
              <a:rPr/>
              <a:t>):</a:t>
            </a:r>
          </a:p>
          <a:p>
            <a:pPr lvl="0"/>
            <a:r>
              <a:rPr b="1"/>
              <a:t>pace weight</a:t>
            </a:r>
            <a:r>
              <a:rPr/>
              <a:t> = clip( 1.20 − 0.03·max(0, age−23), 0.75, 1.20 ) → ~1.2 at 20, 0.85 at 35</a:t>
            </a:r>
          </a:p>
          <a:p>
            <a:pPr lvl="0"/>
            <a:r>
              <a:rPr b="1"/>
              <a:t>experience weight</a:t>
            </a:r>
            <a:r>
              <a:rPr/>
              <a:t> = clip( 0.80 + 0.025·max(0, age−22), 0.80, 1.25 ) → ~0.8 at 22, 1.25 at 35</a:t>
            </a:r>
          </a:p>
          <a:p>
            <a:pPr lvl="0" indent="0" marL="0">
              <a:buNone/>
            </a:pPr>
            <a:r>
              <a:rPr/>
              <a:t>Then </a:t>
            </a:r>
            <a:r>
              <a:rPr>
                <a:latin typeface="Courier"/>
              </a:rPr>
              <a:t>pace_w = pace · pace_weight(age)</a:t>
            </a:r>
            <a:r>
              <a:rPr/>
              <a:t> and </a:t>
            </a:r>
            <a:r>
              <a:rPr>
                <a:latin typeface="Courier"/>
              </a:rPr>
              <a:t>def_w = defending · experience_weight(age)</a:t>
            </a:r>
            <a:r>
              <a:rPr/>
              <a:t>, aggregated over attackers / defenders.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Aggregation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Player → team prior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team, over the strongest 16 by </a:t>
            </a:r>
            <a:r>
              <a:rPr>
                <a:latin typeface="Courier"/>
              </a:rPr>
              <a:t>overall</a:t>
            </a:r>
            <a:r>
              <a:rPr/>
              <a:t> (</a:t>
            </a:r>
            <a:r>
              <a:rPr>
                <a:latin typeface="Courier"/>
              </a:rPr>
              <a:t>live_team_features</a:t>
            </a:r>
            <a:r>
              <a:rPr/>
              <a:t>):</a:t>
            </a:r>
          </a:p>
          <a:p>
            <a:pPr lvl="0"/>
            <a:r>
              <a:rPr>
                <a:latin typeface="Courier"/>
              </a:rPr>
              <a:t>age_role = ½·z(young_pace) + ½·z(senior_solidity)</a:t>
            </a:r>
          </a:p>
          <a:p>
            <a:pPr lvl="0"/>
            <a:r>
              <a:rPr>
                <a:latin typeface="Courier"/>
              </a:rPr>
              <a:t>composite = 0.80·z(squad_overall) + 0.06·z(log(1+caps)) + 0.04·z(age) + 0.10·z(age_role)</a:t>
            </a:r>
          </a:p>
          <a:p>
            <a:pPr lvl="0"/>
            <a:r>
              <a:rPr b="1">
                <a:latin typeface="Courier"/>
              </a:rPr>
              <a:t>prior_strength = z(composite) · 0.5</a:t>
            </a:r>
            <a:r>
              <a:rPr/>
              <a:t> → the model’s prior mean on attack</a:t>
            </a:r>
          </a:p>
          <a:p>
            <a:pPr lvl="0" indent="0" marL="0">
              <a:buNone/>
            </a:pPr>
            <a:r>
              <a:rPr/>
              <a:t>Skill dominates; caps/age/role add small, auditable nudges. Match data can still override the prior — </a:t>
            </a:r>
            <a:r>
              <a:rPr>
                <a:latin typeface="Courier"/>
              </a:rPr>
              <a:t>beta_prior</a:t>
            </a:r>
            <a:r>
              <a:rPr/>
              <a:t> learns how much to trust it.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Published team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separate roll-up for presentation (</a:t>
            </a:r>
            <a:r>
              <a:rPr>
                <a:latin typeface="Courier"/>
              </a:rPr>
              <a:t>scripts/27</a:t>
            </a:r>
            <a:r>
              <a:rPr/>
              <a:t>), assembled by a left-join chain keyed on </a:t>
            </a:r>
            <a:r>
              <a:rPr>
                <a:latin typeface="Courier"/>
              </a:rPr>
              <a:t>team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team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DataFrame(</a:t>
            </a:r>
            <a:r>
              <a:rPr>
                <a:solidFill>
                  <a:srgbClr val="40A070"/>
                </a:solidFill>
                <a:latin typeface="Courier"/>
              </a:rPr>
              <a:t>48</a:t>
            </a:r>
            <a:r>
              <a:rPr>
                <a:latin typeface="Courier"/>
              </a:rPr>
              <a:t> teams)</a:t>
            </a:r>
            <a:br/>
            <a:r>
              <a:rPr>
                <a:latin typeface="Courier"/>
              </a:rPr>
              <a:t>   .merge(results)   </a:t>
            </a:r>
            <a:r>
              <a:rPr i="1">
                <a:solidFill>
                  <a:srgbClr val="60A0B0"/>
                </a:solidFill>
                <a:latin typeface="Courier"/>
              </a:rPr>
              <a:t># 2026 W/D/L, GF/GA, points   (from wc2026_matches)</a:t>
            </a:r>
            <a:br/>
            <a:r>
              <a:rPr>
                <a:latin typeface="Courier"/>
              </a:rPr>
              <a:t>   .merge(strength)  </a:t>
            </a:r>
            <a:r>
              <a:rPr i="1">
                <a:solidFill>
                  <a:srgbClr val="60A0B0"/>
                </a:solidFill>
                <a:latin typeface="Courier"/>
              </a:rPr>
              <a:t># attack/defence/net/model_rank (posterior_strength_real.csv)</a:t>
            </a:r>
            <a:br/>
            <a:r>
              <a:rPr>
                <a:latin typeface="Courier"/>
              </a:rPr>
              <a:t>   .merge(elo)       </a:t>
            </a:r>
            <a:r>
              <a:rPr i="1">
                <a:solidFill>
                  <a:srgbClr val="60A0B0"/>
                </a:solidFill>
                <a:latin typeface="Courier"/>
              </a:rPr>
              <a:t># elo, elo_rank               (elo_ratings.csv)</a:t>
            </a:r>
            <a:br/>
            <a:r>
              <a:rPr>
                <a:latin typeface="Courier"/>
              </a:rPr>
              <a:t>   .merge(agg)       </a:t>
            </a:r>
            <a:r>
              <a:rPr i="1">
                <a:solidFill>
                  <a:srgbClr val="60A0B0"/>
                </a:solidFill>
                <a:latin typeface="Courier"/>
              </a:rPr>
              <a:t># squad_overall, attack/defence_strength,</a:t>
            </a:r>
            <a:br/>
            <a:r>
              <a:rPr>
                <a:latin typeface="Courier"/>
              </a:rPr>
              <a:t>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young_pace, senior_solidity, tier, style, star_player</a:t>
            </a:r>
            <a:br/>
            <a:r>
              <a:rPr>
                <a:latin typeface="Courier"/>
              </a:rPr>
              <a:t>form_momentum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combined_shifts(...)   </a:t>
            </a:r>
            <a:r>
              <a:rPr i="1">
                <a:solidFill>
                  <a:srgbClr val="60A0B0"/>
                </a:solidFill>
                <a:latin typeface="Courier"/>
              </a:rPr>
              <a:t># recency form + sentiment nudge</a:t>
            </a:r>
            <a:br/>
            <a:r>
              <a:rPr>
                <a:latin typeface="Courier"/>
              </a:rPr>
              <a:t>flag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fifa_code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flag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worldcup_repo metadata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tier</a:t>
            </a:r>
            <a:r>
              <a:rPr/>
              <a:t> from </a:t>
            </a:r>
            <a:r>
              <a:rPr>
                <a:latin typeface="Courier"/>
              </a:rPr>
              <a:t>squad_overall</a:t>
            </a:r>
            <a:r>
              <a:rPr/>
              <a:t>; </a:t>
            </a:r>
            <a:r>
              <a:rPr>
                <a:latin typeface="Courier"/>
              </a:rPr>
              <a:t>style</a:t>
            </a:r>
            <a:r>
              <a:rPr/>
              <a:t> from sign(attack − defence); </a:t>
            </a:r>
            <a:r>
              <a:rPr>
                <a:latin typeface="Courier"/>
              </a:rPr>
              <a:t>star_player</a:t>
            </a:r>
            <a:r>
              <a:rPr/>
              <a:t> = top outfield by </a:t>
            </a:r>
            <a:r>
              <a:rPr>
                <a:latin typeface="Courier"/>
              </a:rPr>
              <a:t>overall</a:t>
            </a:r>
            <a:r>
              <a:rPr/>
              <a:t>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Per-group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data/teams.py</a:t>
            </a:r>
            <a:r>
              <a:rPr/>
              <a:t>: 48 </a:t>
            </a:r>
            <a:r>
              <a:rPr>
                <a:latin typeface="Courier"/>
              </a:rPr>
              <a:t>Team(name, code, confederation, group, latent_strength)</a:t>
            </a:r>
            <a:r>
              <a:rPr/>
              <a:t> records encode the real draw.</a:t>
            </a:r>
          </a:p>
          <a:p>
            <a:pPr lvl="0"/>
            <a:r>
              <a:rPr>
                <a:latin typeface="Courier"/>
              </a:rPr>
              <a:t>by_group()</a:t>
            </a:r>
            <a:r>
              <a:rPr/>
              <a:t> → </a:t>
            </a:r>
            <a:r>
              <a:rPr>
                <a:latin typeface="Courier"/>
              </a:rPr>
              <a:t>{letter: [4 teams]}</a:t>
            </a:r>
            <a:r>
              <a:rPr/>
              <a:t>; asserts enforce </a:t>
            </a:r>
            <a:r>
              <a:rPr b="1"/>
              <a:t>12 groups × 4</a:t>
            </a:r>
            <a:r>
              <a:rPr/>
              <a:t>.</a:t>
            </a:r>
          </a:p>
          <a:p>
            <a:pPr lvl="0"/>
            <a:r>
              <a:rPr/>
              <a:t>The </a:t>
            </a:r>
            <a:r>
              <a:rPr>
                <a:latin typeface="Courier"/>
              </a:rPr>
              <a:t>group</a:t>
            </a:r>
            <a:r>
              <a:rPr/>
              <a:t> column rides through both published tables.</a:t>
            </a:r>
          </a:p>
          <a:p>
            <a:pPr lvl="0"/>
            <a:r>
              <a:rPr>
                <a:latin typeface="Courier"/>
              </a:rPr>
              <a:t>by_group()</a:t>
            </a:r>
            <a:r>
              <a:rPr/>
              <a:t> drives the group stage in </a:t>
            </a:r>
            <a:r>
              <a:rPr i="1"/>
              <a:t>both</a:t>
            </a:r>
            <a:r>
              <a:rPr/>
              <a:t> simulators (top-2 + 8 best thirds → knockout): </a:t>
            </a:r>
            <a:r>
              <a:rPr>
                <a:latin typeface="Courier"/>
              </a:rPr>
              <a:t>models/simulate.py</a:t>
            </a:r>
            <a:r>
              <a:rPr/>
              <a:t> (Bayesian) and </a:t>
            </a:r>
            <a:r>
              <a:rPr>
                <a:latin typeface="Courier"/>
              </a:rPr>
              <a:t>models/elo_sim.py</a:t>
            </a:r>
            <a:r>
              <a:rPr/>
              <a:t> (Elo).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Presentation &amp; the daily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Surfaces:</a:t>
            </a:r>
            <a:r>
              <a:rPr/>
              <a:t> </a:t>
            </a:r>
            <a:r>
              <a:rPr>
                <a:latin typeface="Courier"/>
              </a:rPr>
              <a:t>wc2026_players.csv</a:t>
            </a:r>
            <a:r>
              <a:rPr/>
              <a:t>, </a:t>
            </a:r>
            <a:r>
              <a:rPr>
                <a:latin typeface="Courier"/>
              </a:rPr>
              <a:t>wc2026_team_assessment.csv</a:t>
            </a:r>
            <a:r>
              <a:rPr/>
              <a:t>; </a:t>
            </a:r>
            <a:r>
              <a:rPr>
                <a:latin typeface="Courier"/>
              </a:rPr>
              <a:t>docs/WINNERS.md</a:t>
            </a:r>
            <a:r>
              <a:rPr/>
              <a:t>, </a:t>
            </a:r>
            <a:r>
              <a:rPr>
                <a:latin typeface="Courier"/>
              </a:rPr>
              <a:t>CHAMPION_TRACKER.md</a:t>
            </a:r>
            <a:r>
              <a:rPr/>
              <a:t>, </a:t>
            </a:r>
            <a:r>
              <a:rPr>
                <a:latin typeface="Courier"/>
              </a:rPr>
              <a:t>FORECAST_LOG.md</a:t>
            </a:r>
            <a:r>
              <a:rPr/>
              <a:t>; </a:t>
            </a:r>
            <a:r>
              <a:rPr>
                <a:latin typeface="Courier"/>
              </a:rPr>
              <a:t>artifacts/*.png</a:t>
            </a:r>
            <a:r>
              <a:rPr/>
              <a:t> (calibration, champion timeline).</a:t>
            </a:r>
          </a:p>
          <a:p>
            <a:pPr lvl="0" indent="0">
              <a:buNone/>
            </a:pPr>
            <a:r>
              <a:rPr>
                <a:latin typeface="Courier"/>
              </a:rPr>
              <a:t>make daily:
  real-players -&gt; live-squads -&gt; live-features -&gt; real-fit -&gt; elo
    -&gt; dataset(27) -&gt; winners(28) -&gt; track/champion -&gt; timeline -&gt; log</a:t>
            </a:r>
          </a:p>
          <a:p>
            <a:pPr lvl="0" indent="0" marL="0">
              <a:buNone/>
            </a:pPr>
            <a:r>
              <a:rPr/>
              <a:t>Each run: fresh squads + results → recompute features/prior → refit → rebuild both tables → regenerate every forecast → the CI bot commits the diff.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Extending it &amp; honest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Better attributes:</a:t>
            </a:r>
            <a:r>
              <a:rPr/>
              <a:t> replace the surname join with an exact-ID feed; the PLAYER schema (and everything downstream) is unchanged.</a:t>
            </a:r>
          </a:p>
          <a:p>
            <a:pPr lvl="0"/>
            <a:r>
              <a:rPr b="1"/>
              <a:t>New prior signal:</a:t>
            </a:r>
            <a:r>
              <a:rPr/>
              <a:t> add a column in </a:t>
            </a:r>
            <a:r>
              <a:rPr>
                <a:latin typeface="Courier"/>
              </a:rPr>
              <a:t>live_team_features</a:t>
            </a:r>
            <a:r>
              <a:rPr/>
              <a:t>, fold it into </a:t>
            </a:r>
            <a:r>
              <a:rPr>
                <a:latin typeface="Courier"/>
              </a:rPr>
              <a:t>composite</a:t>
            </a:r>
            <a:r>
              <a:rPr/>
              <a:t> with a small weight, then </a:t>
            </a:r>
            <a:r>
              <a:rPr b="1"/>
              <a:t>validate on the RPS scoreboard</a:t>
            </a:r>
            <a:r>
              <a:rPr/>
              <a:t> — a feature stays only if it lowers RPS.</a:t>
            </a:r>
          </a:p>
          <a:p>
            <a:pPr lvl="0"/>
            <a:r>
              <a:rPr b="1"/>
              <a:t>New source:</a:t>
            </a:r>
            <a:r>
              <a:rPr/>
              <a:t> add a loader returning a documented schema; wire aliases if names differ.</a:t>
            </a:r>
          </a:p>
          <a:p>
            <a:pPr lvl="0"/>
            <a:r>
              <a:rPr b="1"/>
              <a:t>Limits:</a:t>
            </a:r>
            <a:r>
              <a:rPr/>
              <a:t> ~70% surname-join coverage (flagged), FIFA-22 vintage, results feed lags real time by hours.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docs/DATA_PIPELINE.md</a:t>
            </a:r>
            <a:r>
              <a:rPr/>
              <a:t> — the written reference </a:t>
            </a:r>
            <a:r>
              <a:rPr>
                <a:latin typeface="Courier"/>
              </a:rPr>
              <a:t>docs/data_pipeline_slides.tex</a:t>
            </a:r>
            <a:r>
              <a:rPr/>
              <a:t> — the Beamer/LaTeX source (compile for PDF)</a:t>
            </a:r>
          </a:p>
          <a:p>
            <a:pPr lvl="0" indent="0" marL="0">
              <a:buNone/>
            </a:pPr>
            <a:r>
              <a:rPr/>
              <a:t>github.com/mariaob1201/2026-world-cup-analytics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2026 World Cup Analytics Data Pipeline</dc:title>
  <dc:creator>Collection, organization, and aggregation — a developer walkthrough</dc:creator>
  <cp:keywords/>
  <dcterms:created xsi:type="dcterms:W3CDTF">2026-07-10T04:02:44Z</dcterms:created>
  <dcterms:modified xsi:type="dcterms:W3CDTF">2026-07-10T04:02:44Z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github.com/mariaob1201/2026-world-cup-analytics</vt:lpwstr>
  </property>
</Properties>
</file>